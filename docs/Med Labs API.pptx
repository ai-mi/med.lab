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31EBCE-3B02-4159-8DD8-92A0C3C08D07}" v="19" dt="2025-12-14T15:08:42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6" autoAdjust="0"/>
    <p:restoredTop sz="93947" autoAdjust="0"/>
  </p:normalViewPr>
  <p:slideViewPr>
    <p:cSldViewPr snapToGrid="0">
      <p:cViewPr varScale="1">
        <p:scale>
          <a:sx n="96" d="100"/>
          <a:sy n="96" d="100"/>
        </p:scale>
        <p:origin x="9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ABBF8-9D66-4841-A75D-11FA38D0EB0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56E3A-1505-4F1E-AF3C-0E4CDF7DA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77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509D-45E6-B4A8-C0E7-3F84BA939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6CE31-4B39-9921-2746-C74380C27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5FC1-CBE3-B07D-23FA-4AC86199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182AF-8E6A-37B1-3B40-9121AB78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B10DF-BC5E-F7F2-AA63-5B72A231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C7ED-74C3-6133-1B1E-C459599C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2261-C3A7-66F0-BD1B-16CCFC287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355C0-832F-F347-1CAF-8EECE6B5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8F4B9-702E-4825-11CB-C03A0067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1D0D7-A6B5-D1B4-5129-3F2C6762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A860-1B71-C4AD-8269-9AC5497C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AC3DA-F52C-338A-8977-8E72D8F63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01003-BA4C-9551-FD5D-5E2DB43C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C89CB-2E85-14C6-FB10-7FE3EA36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1933D-5E57-D76C-3621-D0DF2617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6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9A2D-AA3D-AEE2-B844-AAC4A635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835EF-10BC-A856-3B9F-4DA0EAA6E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5B299-D0E6-67A1-6397-6EE167A45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1C6E1-D666-4504-A757-871F1E35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F0BC2-E12C-4026-047C-FC5EA102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9AE8D-1D78-1DA7-46C3-10018B67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1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A2A5-5A88-EF40-6D26-8A215617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B239E-B859-9A8B-C4ED-421811AD3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35FDF-7216-C97C-8215-9E57B76E4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9FD5D-9C20-15B0-75A3-6D0499DD8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F67E6-CD0E-725C-D816-D95662D8F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559004-AD90-A39F-11AB-099362CA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DECB22-0722-31EC-1AE2-15EB183A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CE1C7-805E-2E00-8BC7-A45D09C5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2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BB93-095D-764B-2A34-937386AD3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0CC97-D2A3-A5FD-83BD-51CA1B08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CA276-0046-AD85-28F6-80959490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921E4-1CEF-0EF9-3FCD-B09E4AE0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676FB-9525-EB30-A9AA-629FFA36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2FB04-0271-062B-20EC-B55BCFCC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277C0-D36E-EA4D-BB38-DD844174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15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DF96-E2C7-BE3A-95E5-73D67CC3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2BD56-5420-BC2E-5207-53AF7E3D2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600F1-E93C-0A5C-B6F0-E890A5107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41976-E56E-5C1F-8560-7F6AA4C4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9645B-C161-19BD-FB1B-BF2F6617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16CF6-4CC3-054F-3B94-38EBD7EA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57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F27-E268-7030-3EC7-1F02B6D92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0390B-BAE7-C55F-AF0C-EF87A2CDE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18682-EEF5-0421-F4DE-131822820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D65C5-84E4-21FC-DA57-DA76B80F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EE8F7-AADA-FF14-D2D8-A2CC515BE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143A9-28DE-5B84-DEA1-76FBFFA0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54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244D-0639-3537-03CC-8B4B6A82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DEA91-ABED-0453-8600-3598AD30B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5F5DF-8AB4-E7E0-58C1-F286D783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76F63-ABDB-D755-C4EB-F43480BE3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0507C-571C-F1E9-5DDD-D78BC65C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2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F937EE-0869-79D4-001B-B1BEABB7D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ECA01-D269-23D0-D368-44687A128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2178D-BA06-4B82-D6F3-12B93236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BC22D-ABAF-0A09-F10D-1456C1EA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9B18F-7C44-4780-CD66-F7A13731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4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C9145-1A09-C759-5E5E-DBC76FA4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B6240-8264-C251-8AEF-32FC5D5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A8007-8620-EEB3-975E-15D440073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9A30B-98B5-4C95-B352-235E578A93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64B43-9B2D-D0E3-AC4B-7860CF38B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9B53-58AB-67CE-F413-01152A7C8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DB8E2D-58CC-4064-B838-88EAC694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3A51-746B-2C44-FE8A-DFD2F2050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Med Labs API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C2BBE-C692-F56B-5FE3-F157FD9453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14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9571-F9EA-6944-C72A-183FD203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overview </a:t>
            </a:r>
            <a:r>
              <a:rPr lang="en-US" dirty="0"/>
              <a:t>– CQRS &amp; Event Sourcing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BA6F4-2904-B46D-E357-9DD643BED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6389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┌────────────┐                   ┌───────────────┐</a:t>
            </a:r>
          </a:p>
          <a:p>
            <a:pPr marL="0" indent="0">
              <a:buNone/>
            </a:pPr>
            <a:r>
              <a:rPr lang="en-US" dirty="0"/>
              <a:t>│   Client              │──────▶│   Web API                │</a:t>
            </a:r>
          </a:p>
          <a:p>
            <a:pPr marL="0" indent="0">
              <a:buNone/>
            </a:pPr>
            <a:r>
              <a:rPr lang="en-US" dirty="0"/>
              <a:t>└────────────┘                   └──────┬───────┘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│				</a:t>
            </a:r>
            <a:r>
              <a:rPr lang="en-US" dirty="0" err="1"/>
              <a:t>Skrive</a:t>
            </a:r>
            <a:r>
              <a:rPr lang="en-US" dirty="0"/>
              <a:t>-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leseside</a:t>
            </a:r>
            <a:r>
              <a:rPr lang="en-US" dirty="0"/>
              <a:t> er </a:t>
            </a:r>
            <a:r>
              <a:rPr lang="en-US" dirty="0" err="1"/>
              <a:t>separert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┌──────────────────┴───────────────┐			All state-</a:t>
            </a:r>
            <a:r>
              <a:rPr lang="en-US" dirty="0" err="1"/>
              <a:t>endring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via commands</a:t>
            </a:r>
          </a:p>
          <a:p>
            <a:pPr marL="0" indent="0">
              <a:buNone/>
            </a:pPr>
            <a:r>
              <a:rPr lang="en-US" dirty="0"/>
              <a:t>                        │                                                                                       │			Queries er </a:t>
            </a:r>
            <a:r>
              <a:rPr lang="en-US" dirty="0" err="1"/>
              <a:t>optimalisert</a:t>
            </a:r>
            <a:r>
              <a:rPr lang="en-US" dirty="0"/>
              <a:t> for </a:t>
            </a:r>
            <a:r>
              <a:rPr lang="en-US" dirty="0" err="1"/>
              <a:t>ytelse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┌─────▼─────┐                                                      ┌─────▼─────┐		Event Store er </a:t>
            </a:r>
            <a:r>
              <a:rPr lang="en-US" dirty="0" err="1"/>
              <a:t>sannhetskilden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│  Commands  │                                                       │  Queries           │</a:t>
            </a:r>
          </a:p>
          <a:p>
            <a:pPr marL="0" indent="0">
              <a:buNone/>
            </a:pPr>
            <a:r>
              <a:rPr lang="en-US" dirty="0"/>
              <a:t>         └─────┬─────┘                                                      └─────┬─────┘</a:t>
            </a:r>
          </a:p>
          <a:p>
            <a:pPr marL="0" indent="0">
              <a:buNone/>
            </a:pPr>
            <a:r>
              <a:rPr lang="en-US" dirty="0"/>
              <a:t>                        │                                                                                      │</a:t>
            </a:r>
          </a:p>
          <a:p>
            <a:pPr marL="0" indent="0">
              <a:buNone/>
            </a:pPr>
            <a:r>
              <a:rPr lang="en-US" dirty="0"/>
              <a:t>        ┌─────▼────────┐                                           ┌──────▼─────────┐</a:t>
            </a:r>
          </a:p>
          <a:p>
            <a:pPr marL="0" indent="0">
              <a:buNone/>
            </a:pPr>
            <a:r>
              <a:rPr lang="en-US" dirty="0"/>
              <a:t>        │ Event Store            │                                           │ Read Database        │</a:t>
            </a:r>
          </a:p>
          <a:p>
            <a:pPr marL="0" indent="0">
              <a:buNone/>
            </a:pPr>
            <a:r>
              <a:rPr lang="en-US" dirty="0"/>
              <a:t>        │ (Postgres)               │                                           │ (Projections)              │</a:t>
            </a:r>
          </a:p>
          <a:p>
            <a:pPr marL="0" indent="0">
              <a:buNone/>
            </a:pPr>
            <a:r>
              <a:rPr lang="en-US" dirty="0"/>
              <a:t>        └───────────────┘                                           └─────────────────┘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9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DF53-11D5-39FF-1687-93BF1CB6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handling &amp; Event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6069C-7B3E-4CB2-8C53-52218ECA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743200" lvl="6" indent="0">
              <a:buNone/>
            </a:pPr>
            <a:r>
              <a:rPr lang="en-US" dirty="0"/>
              <a:t>Client</a:t>
            </a:r>
          </a:p>
          <a:p>
            <a:pPr marL="2743200" lvl="6" indent="0">
              <a:buNone/>
            </a:pPr>
            <a:r>
              <a:rPr lang="en-US" dirty="0"/>
              <a:t>   │</a:t>
            </a:r>
          </a:p>
          <a:p>
            <a:pPr marL="2743200" lvl="6" indent="0">
              <a:buNone/>
            </a:pPr>
            <a:r>
              <a:rPr lang="en-US" dirty="0"/>
              <a:t>  ▼</a:t>
            </a:r>
          </a:p>
          <a:p>
            <a:pPr marL="2743200" lvl="6" indent="0">
              <a:buNone/>
            </a:pPr>
            <a:r>
              <a:rPr lang="en-US" dirty="0" err="1"/>
              <a:t>AddLabResultCommand</a:t>
            </a:r>
            <a:r>
              <a:rPr lang="en-US" dirty="0"/>
              <a:t>		Ingen </a:t>
            </a:r>
            <a:r>
              <a:rPr lang="en-US" dirty="0" err="1"/>
              <a:t>direkte</a:t>
            </a:r>
            <a:r>
              <a:rPr lang="en-US" dirty="0"/>
              <a:t> database-</a:t>
            </a:r>
            <a:r>
              <a:rPr lang="en-US" dirty="0" err="1"/>
              <a:t>oppdateringer</a:t>
            </a:r>
            <a:endParaRPr lang="en-US" dirty="0"/>
          </a:p>
          <a:p>
            <a:pPr marL="2743200" lvl="6" indent="0">
              <a:buNone/>
            </a:pPr>
            <a:r>
              <a:rPr lang="en-US" dirty="0"/>
              <a:t>   │				</a:t>
            </a:r>
            <a:r>
              <a:rPr lang="en-US" dirty="0" err="1"/>
              <a:t>Forretningslogikk</a:t>
            </a:r>
            <a:r>
              <a:rPr lang="en-US" dirty="0"/>
              <a:t> </a:t>
            </a:r>
            <a:r>
              <a:rPr lang="en-US" dirty="0" err="1"/>
              <a:t>skjer</a:t>
            </a:r>
            <a:r>
              <a:rPr lang="en-US" dirty="0"/>
              <a:t> </a:t>
            </a:r>
            <a:r>
              <a:rPr lang="en-US" dirty="0" err="1"/>
              <a:t>før</a:t>
            </a:r>
            <a:r>
              <a:rPr lang="en-US" dirty="0"/>
              <a:t> event </a:t>
            </a:r>
            <a:r>
              <a:rPr lang="en-US" dirty="0" err="1"/>
              <a:t>lagres</a:t>
            </a:r>
            <a:endParaRPr lang="en-US" dirty="0"/>
          </a:p>
          <a:p>
            <a:pPr marL="2743200" lvl="6" indent="0">
              <a:buNone/>
            </a:pPr>
            <a:r>
              <a:rPr lang="en-US" dirty="0"/>
              <a:t>  ▼				Event er immutable </a:t>
            </a:r>
            <a:r>
              <a:rPr lang="en-US" dirty="0" err="1"/>
              <a:t>og</a:t>
            </a:r>
            <a:r>
              <a:rPr lang="en-US" dirty="0"/>
              <a:t> auditable</a:t>
            </a:r>
          </a:p>
          <a:p>
            <a:pPr marL="2743200" lvl="6" indent="0">
              <a:buNone/>
            </a:pPr>
            <a:r>
              <a:rPr lang="en-US" dirty="0"/>
              <a:t>Command Handler</a:t>
            </a:r>
          </a:p>
          <a:p>
            <a:pPr marL="2743200" lvl="6" indent="0">
              <a:buNone/>
            </a:pPr>
            <a:r>
              <a:rPr lang="en-US" dirty="0"/>
              <a:t>   │  (</a:t>
            </a:r>
            <a:r>
              <a:rPr lang="en-US" dirty="0" err="1"/>
              <a:t>validering</a:t>
            </a:r>
            <a:r>
              <a:rPr lang="en-US" dirty="0"/>
              <a:t>, </a:t>
            </a:r>
            <a:r>
              <a:rPr lang="en-US" dirty="0" err="1"/>
              <a:t>domene-regler</a:t>
            </a:r>
            <a:r>
              <a:rPr lang="en-US" dirty="0"/>
              <a:t>)</a:t>
            </a:r>
          </a:p>
          <a:p>
            <a:pPr marL="2743200" lvl="6" indent="0">
              <a:buNone/>
            </a:pPr>
            <a:r>
              <a:rPr lang="en-US" dirty="0"/>
              <a:t>  ▼</a:t>
            </a:r>
          </a:p>
          <a:p>
            <a:pPr marL="2743200" lvl="6" indent="0">
              <a:buNone/>
            </a:pPr>
            <a:r>
              <a:rPr lang="en-US" dirty="0"/>
              <a:t>Aggregate</a:t>
            </a:r>
          </a:p>
          <a:p>
            <a:pPr marL="2743200" lvl="6" indent="0">
              <a:buNone/>
            </a:pPr>
            <a:r>
              <a:rPr lang="en-US" dirty="0"/>
              <a:t>   │</a:t>
            </a:r>
          </a:p>
          <a:p>
            <a:pPr marL="2743200" lvl="6" indent="0">
              <a:buNone/>
            </a:pPr>
            <a:r>
              <a:rPr lang="en-US" dirty="0"/>
              <a:t>  ▼</a:t>
            </a:r>
          </a:p>
          <a:p>
            <a:pPr marL="2743200" lvl="6" indent="0">
              <a:buNone/>
            </a:pPr>
            <a:r>
              <a:rPr lang="en-US" dirty="0"/>
              <a:t>Domain Event</a:t>
            </a:r>
          </a:p>
          <a:p>
            <a:pPr marL="2743200" lvl="6" indent="0">
              <a:buNone/>
            </a:pPr>
            <a:r>
              <a:rPr lang="en-US" dirty="0"/>
              <a:t>(LabResultAdded_v1)</a:t>
            </a:r>
          </a:p>
          <a:p>
            <a:pPr marL="2743200" lvl="6" indent="0">
              <a:buNone/>
            </a:pPr>
            <a:r>
              <a:rPr lang="en-US" dirty="0"/>
              <a:t>   │</a:t>
            </a:r>
          </a:p>
          <a:p>
            <a:pPr marL="2743200" lvl="6" indent="0">
              <a:buNone/>
            </a:pPr>
            <a:r>
              <a:rPr lang="en-US" dirty="0"/>
              <a:t>  ▼</a:t>
            </a:r>
          </a:p>
          <a:p>
            <a:pPr marL="2743200" lvl="6" indent="0">
              <a:buNone/>
            </a:pPr>
            <a:r>
              <a:rPr lang="en-US" dirty="0"/>
              <a:t>Event Store (append-only)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11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5707-2302-62FD-AD40-B3705DC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 for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1B836-E72E-A8DC-C497-6CCFC8280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200400" lvl="7" indent="0">
              <a:buNone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Event</a:t>
            </a:r>
            <a:r>
              <a:rPr lang="en-US" dirty="0"/>
              <a:t> Store</a:t>
            </a:r>
          </a:p>
          <a:p>
            <a:pPr marL="3200400" lvl="7" indent="0">
              <a:buNone/>
            </a:pPr>
            <a:r>
              <a:rPr lang="en-US" dirty="0"/>
              <a:t>  │</a:t>
            </a:r>
          </a:p>
          <a:p>
            <a:pPr marL="3200400" lvl="7" indent="0">
              <a:buNone/>
            </a:pPr>
            <a:r>
              <a:rPr lang="en-US" dirty="0"/>
              <a:t> ├──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Event</a:t>
            </a:r>
            <a:r>
              <a:rPr lang="en-US" dirty="0"/>
              <a:t> 1</a:t>
            </a:r>
          </a:p>
          <a:p>
            <a:pPr marL="3200400" lvl="7" indent="0">
              <a:buNone/>
            </a:pPr>
            <a:r>
              <a:rPr lang="en-US" dirty="0"/>
              <a:t> ├──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Event</a:t>
            </a:r>
            <a:r>
              <a:rPr lang="en-US" dirty="0"/>
              <a:t> 2</a:t>
            </a:r>
          </a:p>
          <a:p>
            <a:pPr marL="3200400" lvl="7" indent="0">
              <a:buNone/>
            </a:pPr>
            <a:r>
              <a:rPr lang="en-US" dirty="0"/>
              <a:t> ├──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Event</a:t>
            </a:r>
            <a:r>
              <a:rPr lang="en-US" dirty="0"/>
              <a:t> 3</a:t>
            </a:r>
          </a:p>
          <a:p>
            <a:pPr marL="3200400" lvl="7" indent="0">
              <a:buNone/>
            </a:pPr>
            <a:r>
              <a:rPr lang="en-US" dirty="0"/>
              <a:t> ├──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Event</a:t>
            </a:r>
            <a:r>
              <a:rPr lang="en-US" dirty="0"/>
              <a:t> 4</a:t>
            </a:r>
          </a:p>
          <a:p>
            <a:pPr marL="3200400" lvl="7" indent="0">
              <a:buNone/>
            </a:pPr>
            <a:r>
              <a:rPr lang="en-US" dirty="0"/>
              <a:t>  └──  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Event</a:t>
            </a:r>
            <a:r>
              <a:rPr lang="en-US" dirty="0"/>
              <a:t> 5</a:t>
            </a:r>
          </a:p>
          <a:p>
            <a:pPr marL="3200400" lvl="7" indent="0">
              <a:buNone/>
            </a:pPr>
            <a:r>
              <a:rPr lang="en-US" dirty="0"/>
              <a:t>          │</a:t>
            </a:r>
          </a:p>
          <a:p>
            <a:pPr marL="3200400" lvl="7" indent="0">
              <a:buNone/>
            </a:pPr>
            <a:r>
              <a:rPr lang="en-US" dirty="0"/>
              <a:t>         ▼</a:t>
            </a:r>
          </a:p>
          <a:p>
            <a:pPr marL="3200400" lvl="7" indent="0">
              <a:buNone/>
            </a:pPr>
            <a:r>
              <a:rPr lang="en-US" dirty="0"/>
              <a:t>     Snapshot (v5)</a:t>
            </a:r>
          </a:p>
          <a:p>
            <a:pPr lvl="7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3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347B-9057-019A-F1F5-97FABEF9B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versioning &amp; backward compatibility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C5FDE-46CB-363F-D263-17B70F6CE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0" lvl="6" indent="0">
              <a:buNone/>
            </a:pPr>
            <a:r>
              <a:rPr lang="en-US" dirty="0"/>
              <a:t>Stored Event</a:t>
            </a:r>
          </a:p>
          <a:p>
            <a:pPr marL="2743200" lvl="6" indent="0">
              <a:buNone/>
            </a:pPr>
            <a:r>
              <a:rPr lang="en-US" dirty="0"/>
              <a:t>(LabResultAdded_v1)</a:t>
            </a:r>
          </a:p>
          <a:p>
            <a:pPr marL="2743200" lvl="6" indent="0">
              <a:buNone/>
            </a:pPr>
            <a:r>
              <a:rPr lang="en-US" dirty="0"/>
              <a:t>         │				</a:t>
            </a:r>
            <a:r>
              <a:rPr lang="en-US" dirty="0" err="1"/>
              <a:t>Gamle</a:t>
            </a:r>
            <a:r>
              <a:rPr lang="en-US" dirty="0"/>
              <a:t> events lever </a:t>
            </a:r>
            <a:r>
              <a:rPr lang="en-US" dirty="0" err="1"/>
              <a:t>evig</a:t>
            </a:r>
            <a:r>
              <a:rPr lang="en-US" dirty="0"/>
              <a:t>	</a:t>
            </a:r>
          </a:p>
          <a:p>
            <a:pPr marL="2743200" lvl="6" indent="0">
              <a:buNone/>
            </a:pPr>
            <a:r>
              <a:rPr lang="en-US" dirty="0"/>
              <a:t>        ▼				</a:t>
            </a:r>
            <a:r>
              <a:rPr lang="en-US" dirty="0" err="1"/>
              <a:t>Upcaster</a:t>
            </a:r>
            <a:r>
              <a:rPr lang="en-US" dirty="0"/>
              <a:t> </a:t>
            </a:r>
            <a:r>
              <a:rPr lang="en-US" dirty="0" err="1"/>
              <a:t>oversetter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struktur</a:t>
            </a:r>
            <a:endParaRPr lang="en-US" dirty="0"/>
          </a:p>
          <a:p>
            <a:pPr marL="2743200" lvl="6" indent="0">
              <a:buNone/>
            </a:pPr>
            <a:r>
              <a:rPr lang="en-US" dirty="0"/>
              <a:t>     </a:t>
            </a:r>
            <a:r>
              <a:rPr lang="en-US" dirty="0" err="1"/>
              <a:t>Upcaster</a:t>
            </a:r>
            <a:r>
              <a:rPr lang="en-US" dirty="0"/>
              <a:t>			Ingen </a:t>
            </a:r>
            <a:r>
              <a:rPr lang="en-US" dirty="0" err="1"/>
              <a:t>migrering</a:t>
            </a:r>
            <a:r>
              <a:rPr lang="en-US" dirty="0"/>
              <a:t> av </a:t>
            </a:r>
            <a:r>
              <a:rPr lang="en-US" dirty="0" err="1"/>
              <a:t>historiske</a:t>
            </a:r>
            <a:r>
              <a:rPr lang="en-US" dirty="0"/>
              <a:t> data</a:t>
            </a:r>
          </a:p>
          <a:p>
            <a:pPr marL="2743200" lvl="6" indent="0">
              <a:buNone/>
            </a:pPr>
            <a:r>
              <a:rPr lang="en-US" dirty="0"/>
              <a:t>         │</a:t>
            </a:r>
          </a:p>
          <a:p>
            <a:pPr marL="2743200" lvl="6" indent="0">
              <a:buNone/>
            </a:pPr>
            <a:r>
              <a:rPr lang="en-US" dirty="0"/>
              <a:t>        ▼</a:t>
            </a:r>
          </a:p>
          <a:p>
            <a:pPr marL="2743200" lvl="6" indent="0">
              <a:buNone/>
            </a:pPr>
            <a:r>
              <a:rPr lang="en-US" dirty="0"/>
              <a:t>(LabResultAdded_v2)</a:t>
            </a:r>
          </a:p>
          <a:p>
            <a:pPr marL="2743200" lvl="6" indent="0">
              <a:buNone/>
            </a:pPr>
            <a:r>
              <a:rPr lang="en-US" dirty="0"/>
              <a:t>         │</a:t>
            </a:r>
          </a:p>
          <a:p>
            <a:pPr marL="2743200" lvl="6" indent="0">
              <a:buNone/>
            </a:pPr>
            <a:r>
              <a:rPr lang="en-US" dirty="0"/>
              <a:t>        ▼</a:t>
            </a:r>
          </a:p>
          <a:p>
            <a:pPr marL="2743200" lvl="6" indent="0">
              <a:buNone/>
            </a:pPr>
            <a:r>
              <a:rPr lang="en-US" dirty="0" err="1"/>
              <a:t>Aggregate.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Apply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38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A941-EB41-5C16-F7E5-BBBB7BF8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-&gt; Read Model projection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41CF6-6338-FC13-8D01-70EAD27ED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200400" lvl="7" indent="0">
              <a:buNone/>
            </a:pPr>
            <a:r>
              <a:rPr lang="en-US" dirty="0"/>
              <a:t>Event Store</a:t>
            </a:r>
          </a:p>
          <a:p>
            <a:pPr marL="3200400" lvl="7" indent="0">
              <a:buNone/>
            </a:pPr>
            <a:r>
              <a:rPr lang="en-US" dirty="0"/>
              <a:t>      │			Read model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slettes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bygges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nytt</a:t>
            </a:r>
            <a:endParaRPr lang="en-US" dirty="0"/>
          </a:p>
          <a:p>
            <a:pPr marL="3200400" lvl="7" indent="0">
              <a:buNone/>
            </a:pPr>
            <a:r>
              <a:rPr lang="en-US" dirty="0"/>
              <a:t>     ▼		</a:t>
            </a:r>
            <a:r>
              <a:rPr lang="en-US" dirty="0" err="1"/>
              <a:t>Optimalisert</a:t>
            </a:r>
            <a:r>
              <a:rPr lang="en-US" dirty="0"/>
              <a:t> for UI-</a:t>
            </a:r>
            <a:r>
              <a:rPr lang="en-US" dirty="0" err="1"/>
              <a:t>spørringer</a:t>
            </a:r>
            <a:endParaRPr lang="en-US" dirty="0"/>
          </a:p>
          <a:p>
            <a:pPr marL="3200400" lvl="7" indent="0">
              <a:buNone/>
            </a:pPr>
            <a:r>
              <a:rPr lang="en-US" dirty="0"/>
              <a:t>Event Handler	</a:t>
            </a:r>
            <a:r>
              <a:rPr lang="en-US" dirty="0" err="1"/>
              <a:t>Uavhengig</a:t>
            </a:r>
            <a:r>
              <a:rPr lang="en-US" dirty="0"/>
              <a:t> av </a:t>
            </a:r>
            <a:r>
              <a:rPr lang="en-US" dirty="0" err="1"/>
              <a:t>domenelogikk</a:t>
            </a:r>
            <a:endParaRPr lang="en-US" dirty="0"/>
          </a:p>
          <a:p>
            <a:pPr marL="3200400" lvl="7" indent="0">
              <a:buNone/>
            </a:pPr>
            <a:r>
              <a:rPr lang="en-US" dirty="0"/>
              <a:t>      │</a:t>
            </a:r>
          </a:p>
          <a:p>
            <a:pPr marL="3200400" lvl="7" indent="0">
              <a:buNone/>
            </a:pPr>
            <a:r>
              <a:rPr lang="en-US" dirty="0"/>
              <a:t>     ▼</a:t>
            </a:r>
          </a:p>
          <a:p>
            <a:pPr marL="3200400" lvl="7" indent="0">
              <a:buNone/>
            </a:pPr>
            <a:r>
              <a:rPr lang="en-US" dirty="0"/>
              <a:t>Projection Logic</a:t>
            </a:r>
          </a:p>
          <a:p>
            <a:pPr marL="3200400" lvl="7" indent="0">
              <a:buNone/>
            </a:pPr>
            <a:r>
              <a:rPr lang="en-US" dirty="0"/>
              <a:t>      │</a:t>
            </a:r>
          </a:p>
          <a:p>
            <a:pPr marL="3200400" lvl="7" indent="0">
              <a:buNone/>
            </a:pPr>
            <a:r>
              <a:rPr lang="en-US" dirty="0"/>
              <a:t>     ▼</a:t>
            </a:r>
          </a:p>
          <a:p>
            <a:pPr marL="3200400" lvl="7" indent="0">
              <a:buNone/>
            </a:pPr>
            <a:r>
              <a:rPr lang="en-US" dirty="0"/>
              <a:t>Read Model (Postgres)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292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1819-D27F-35D3-7A9A-322AF9CD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Flow (Fast Reads)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C4080-B0DD-FB96-0735-F9AF6448D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0" lvl="6" indent="0">
              <a:buNone/>
            </a:pPr>
            <a:r>
              <a:rPr lang="en-US" dirty="0"/>
              <a:t>Client</a:t>
            </a:r>
          </a:p>
          <a:p>
            <a:pPr marL="2743200" lvl="6" indent="0">
              <a:buNone/>
            </a:pPr>
            <a:r>
              <a:rPr lang="en-US" dirty="0"/>
              <a:t>   │				Ingen </a:t>
            </a:r>
            <a:r>
              <a:rPr lang="en-US" dirty="0" err="1"/>
              <a:t>tilgang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event store</a:t>
            </a:r>
          </a:p>
          <a:p>
            <a:pPr marL="2743200" lvl="6" indent="0">
              <a:buNone/>
            </a:pPr>
            <a:r>
              <a:rPr lang="en-US" dirty="0"/>
              <a:t>  ▼				</a:t>
            </a:r>
            <a:r>
              <a:rPr lang="en-US" dirty="0" err="1"/>
              <a:t>Enkle</a:t>
            </a:r>
            <a:r>
              <a:rPr lang="en-US" dirty="0"/>
              <a:t> SQL-</a:t>
            </a:r>
            <a:r>
              <a:rPr lang="en-US" dirty="0" err="1"/>
              <a:t>spørringer</a:t>
            </a:r>
            <a:endParaRPr lang="en-US" dirty="0"/>
          </a:p>
          <a:p>
            <a:pPr marL="2743200" lvl="6" indent="0">
              <a:buNone/>
            </a:pPr>
            <a:r>
              <a:rPr lang="en-US" dirty="0"/>
              <a:t>Query Endpoint			Lav latency</a:t>
            </a:r>
          </a:p>
          <a:p>
            <a:pPr marL="2743200" lvl="6" indent="0">
              <a:buNone/>
            </a:pPr>
            <a:r>
              <a:rPr lang="en-US" dirty="0"/>
              <a:t>   │</a:t>
            </a:r>
          </a:p>
          <a:p>
            <a:pPr marL="2743200" lvl="6" indent="0">
              <a:buNone/>
            </a:pPr>
            <a:r>
              <a:rPr lang="en-US" dirty="0"/>
              <a:t>  ▼</a:t>
            </a:r>
          </a:p>
          <a:p>
            <a:pPr marL="2743200" lvl="6" indent="0">
              <a:buNone/>
            </a:pPr>
            <a:r>
              <a:rPr lang="en-US" dirty="0"/>
              <a:t>Read Model</a:t>
            </a:r>
          </a:p>
          <a:p>
            <a:pPr marL="2743200" lvl="6" indent="0">
              <a:buNone/>
            </a:pPr>
            <a:r>
              <a:rPr lang="en-US" dirty="0"/>
              <a:t>   │</a:t>
            </a:r>
          </a:p>
          <a:p>
            <a:pPr marL="2743200" lvl="6" indent="0">
              <a:buNone/>
            </a:pPr>
            <a:r>
              <a:rPr lang="en-US" dirty="0"/>
              <a:t>  ▼</a:t>
            </a:r>
          </a:p>
          <a:p>
            <a:pPr marL="2743200" lvl="6" indent="0">
              <a:buNone/>
            </a:pPr>
            <a:r>
              <a:rPr lang="en-US" dirty="0"/>
              <a:t>Filtered Result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523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0863-9CC2-48EC-6578-693FF1688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</a:t>
            </a:r>
            <a:r>
              <a:rPr lang="en-US" dirty="0" err="1"/>
              <a:t>toEnd</a:t>
            </a:r>
            <a:r>
              <a:rPr lang="en-US" dirty="0"/>
              <a:t> Testing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1B163-E9E7-483B-4243-62FD0A669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200400" lvl="7" indent="0">
              <a:buNone/>
            </a:pPr>
            <a:r>
              <a:rPr lang="en-US" dirty="0"/>
              <a:t>HTTP Request</a:t>
            </a:r>
          </a:p>
          <a:p>
            <a:pPr marL="3200400" lvl="7" indent="0">
              <a:buNone/>
            </a:pPr>
            <a:r>
              <a:rPr lang="en-US" dirty="0"/>
              <a:t>      │</a:t>
            </a:r>
          </a:p>
          <a:p>
            <a:pPr marL="3200400" lvl="7" indent="0">
              <a:buNone/>
            </a:pPr>
            <a:r>
              <a:rPr lang="en-US" dirty="0"/>
              <a:t>     ▼				Tester hele </a:t>
            </a:r>
            <a:r>
              <a:rPr lang="en-US" dirty="0" err="1"/>
              <a:t>flyten</a:t>
            </a:r>
            <a:r>
              <a:rPr lang="en-US" dirty="0"/>
              <a:t> </a:t>
            </a:r>
          </a:p>
          <a:p>
            <a:pPr marL="3200400" lvl="7" indent="0">
              <a:buNone/>
            </a:pPr>
            <a:r>
              <a:rPr lang="en-US" dirty="0"/>
              <a:t> API				Bruker </a:t>
            </a:r>
            <a:r>
              <a:rPr lang="en-US" dirty="0" err="1"/>
              <a:t>ekte</a:t>
            </a:r>
            <a:r>
              <a:rPr lang="en-US" dirty="0"/>
              <a:t> Postgres</a:t>
            </a:r>
          </a:p>
          <a:p>
            <a:pPr marL="3200400" lvl="7" indent="0">
              <a:buNone/>
            </a:pPr>
            <a:r>
              <a:rPr lang="en-US" dirty="0"/>
              <a:t>      │				</a:t>
            </a:r>
            <a:r>
              <a:rPr lang="en-US" dirty="0" err="1"/>
              <a:t>Avdekker</a:t>
            </a:r>
            <a:r>
              <a:rPr lang="en-US" dirty="0"/>
              <a:t> </a:t>
            </a:r>
            <a:r>
              <a:rPr lang="en-US" dirty="0" err="1"/>
              <a:t>integrasjonsfeil</a:t>
            </a:r>
            <a:r>
              <a:rPr lang="en-US" dirty="0"/>
              <a:t> </a:t>
            </a:r>
            <a:r>
              <a:rPr lang="en-US" dirty="0" err="1"/>
              <a:t>tidlig</a:t>
            </a:r>
            <a:endParaRPr lang="en-US" dirty="0"/>
          </a:p>
          <a:p>
            <a:pPr marL="3200400" lvl="7" indent="0">
              <a:buNone/>
            </a:pPr>
            <a:r>
              <a:rPr lang="en-US" dirty="0"/>
              <a:t>     ▼</a:t>
            </a:r>
          </a:p>
          <a:p>
            <a:pPr marL="3200400" lvl="7" indent="0">
              <a:buNone/>
            </a:pPr>
            <a:r>
              <a:rPr lang="en-US" dirty="0"/>
              <a:t>Command Handler		</a:t>
            </a:r>
            <a:r>
              <a:rPr lang="en-US" dirty="0" err="1"/>
              <a:t>Skrive</a:t>
            </a:r>
            <a:r>
              <a:rPr lang="en-US" dirty="0"/>
              <a:t> scenario</a:t>
            </a:r>
          </a:p>
          <a:p>
            <a:pPr marL="3200400" lvl="7" indent="0">
              <a:buNone/>
            </a:pPr>
            <a:r>
              <a:rPr lang="en-US" dirty="0"/>
              <a:t>      │</a:t>
            </a:r>
          </a:p>
          <a:p>
            <a:pPr marL="3200400" lvl="7" indent="0">
              <a:buNone/>
            </a:pPr>
            <a:r>
              <a:rPr lang="en-US" dirty="0"/>
              <a:t>     ▼</a:t>
            </a:r>
          </a:p>
          <a:p>
            <a:pPr marL="3200400" lvl="7" indent="0">
              <a:buNone/>
            </a:pPr>
            <a:r>
              <a:rPr lang="en-US" dirty="0"/>
              <a:t>Event Store (Postgres)</a:t>
            </a:r>
          </a:p>
          <a:p>
            <a:pPr marL="3200400" lvl="7" indent="0">
              <a:buNone/>
            </a:pPr>
            <a:r>
              <a:rPr lang="en-US" dirty="0"/>
              <a:t>      │</a:t>
            </a:r>
          </a:p>
          <a:p>
            <a:pPr marL="3200400" lvl="7" indent="0">
              <a:buNone/>
            </a:pPr>
            <a:r>
              <a:rPr lang="en-US" dirty="0"/>
              <a:t>     ▼</a:t>
            </a:r>
          </a:p>
          <a:p>
            <a:pPr marL="3200400" lvl="7" indent="0">
              <a:buNone/>
            </a:pPr>
            <a:r>
              <a:rPr lang="en-US" dirty="0"/>
              <a:t>Projection</a:t>
            </a:r>
          </a:p>
          <a:p>
            <a:pPr marL="3200400" lvl="7" indent="0">
              <a:buNone/>
            </a:pPr>
            <a:r>
              <a:rPr lang="en-US" dirty="0"/>
              <a:t>      │</a:t>
            </a:r>
          </a:p>
          <a:p>
            <a:pPr marL="3200400" lvl="7" indent="0">
              <a:buNone/>
            </a:pPr>
            <a:r>
              <a:rPr lang="en-US" dirty="0"/>
              <a:t>     ▼</a:t>
            </a:r>
          </a:p>
          <a:p>
            <a:pPr marL="3200400" lvl="7" indent="0">
              <a:buNone/>
            </a:pPr>
            <a:r>
              <a:rPr lang="en-US" dirty="0"/>
              <a:t>Query</a:t>
            </a:r>
          </a:p>
          <a:p>
            <a:pPr marL="3200400" lvl="7" indent="0">
              <a:buNone/>
            </a:pPr>
            <a:r>
              <a:rPr lang="en-US" dirty="0"/>
              <a:t>      │</a:t>
            </a:r>
          </a:p>
          <a:p>
            <a:pPr marL="3200400" lvl="7" indent="0">
              <a:buNone/>
            </a:pPr>
            <a:r>
              <a:rPr lang="en-US" dirty="0"/>
              <a:t>     ▼</a:t>
            </a:r>
          </a:p>
          <a:p>
            <a:pPr marL="3200400" lvl="7" indent="0">
              <a:buNone/>
            </a:pPr>
            <a:r>
              <a:rPr lang="en-US" dirty="0"/>
              <a:t>HTTP Response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549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9926-3393-A492-8B0A-3F4ECAAEF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 &amp; </a:t>
            </a:r>
            <a:r>
              <a:rPr lang="en-US" dirty="0" err="1"/>
              <a:t>Deloyment</a:t>
            </a:r>
            <a:r>
              <a:rPr lang="en-US" dirty="0"/>
              <a:t>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B8FA4-F7A5-DA0D-87DC-24FDA1F67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200400" lvl="7" indent="0">
              <a:buNone/>
            </a:pPr>
            <a:r>
              <a:rPr lang="en-US" dirty="0"/>
              <a:t>Git Push</a:t>
            </a:r>
          </a:p>
          <a:p>
            <a:pPr marL="3200400" lvl="7" indent="0">
              <a:buNone/>
            </a:pPr>
            <a:r>
              <a:rPr lang="en-US" dirty="0"/>
              <a:t>    │</a:t>
            </a:r>
          </a:p>
          <a:p>
            <a:pPr marL="3200400" lvl="7" indent="0">
              <a:buNone/>
            </a:pPr>
            <a:r>
              <a:rPr lang="en-US" dirty="0"/>
              <a:t>   ▼				</a:t>
            </a:r>
            <a:r>
              <a:rPr lang="en-US" dirty="0" err="1"/>
              <a:t>Automatisert</a:t>
            </a:r>
            <a:r>
              <a:rPr lang="en-US" dirty="0"/>
              <a:t> </a:t>
            </a:r>
            <a:r>
              <a:rPr lang="en-US" dirty="0" err="1"/>
              <a:t>kvalitetssikring</a:t>
            </a:r>
            <a:endParaRPr lang="en-US" dirty="0"/>
          </a:p>
          <a:p>
            <a:pPr marL="3200400" lvl="7" indent="0">
              <a:buNone/>
            </a:pPr>
            <a:r>
              <a:rPr lang="en-US" dirty="0"/>
              <a:t>GitHub Actions		Samme </a:t>
            </a:r>
            <a:r>
              <a:rPr lang="en-US" dirty="0" err="1"/>
              <a:t>pipline</a:t>
            </a:r>
            <a:r>
              <a:rPr lang="en-US" dirty="0"/>
              <a:t> </a:t>
            </a:r>
            <a:r>
              <a:rPr lang="en-US" dirty="0" err="1"/>
              <a:t>lokalt</a:t>
            </a:r>
            <a:r>
              <a:rPr lang="en-US" dirty="0"/>
              <a:t> </a:t>
            </a:r>
            <a:r>
              <a:rPr lang="en-US" dirty="0" err="1"/>
              <a:t>ig</a:t>
            </a:r>
            <a:r>
              <a:rPr lang="en-US" dirty="0"/>
              <a:t> I prod</a:t>
            </a:r>
          </a:p>
          <a:p>
            <a:pPr marL="3200400" lvl="7" indent="0">
              <a:buNone/>
            </a:pPr>
            <a:r>
              <a:rPr lang="en-US" dirty="0"/>
              <a:t>   │				</a:t>
            </a:r>
            <a:r>
              <a:rPr lang="en-US" dirty="0" err="1"/>
              <a:t>Forutsigbar</a:t>
            </a:r>
            <a:r>
              <a:rPr lang="en-US" dirty="0"/>
              <a:t> deploy</a:t>
            </a:r>
          </a:p>
          <a:p>
            <a:pPr marL="3200400" lvl="7" indent="0">
              <a:buNone/>
            </a:pPr>
            <a:r>
              <a:rPr lang="en-US" dirty="0"/>
              <a:t>  ├── Build</a:t>
            </a:r>
          </a:p>
          <a:p>
            <a:pPr marL="3200400" lvl="7" indent="0">
              <a:buNone/>
            </a:pPr>
            <a:r>
              <a:rPr lang="en-US" dirty="0"/>
              <a:t>  ├── Test</a:t>
            </a:r>
          </a:p>
          <a:p>
            <a:pPr marL="3200400" lvl="7" indent="0">
              <a:buNone/>
            </a:pPr>
            <a:r>
              <a:rPr lang="en-US" dirty="0"/>
              <a:t>  ├── Docker Build</a:t>
            </a:r>
          </a:p>
          <a:p>
            <a:pPr marL="3200400" lvl="7" indent="0">
              <a:buNone/>
            </a:pPr>
            <a:r>
              <a:rPr lang="en-US" dirty="0"/>
              <a:t>   └── Deploy</a:t>
            </a:r>
          </a:p>
          <a:p>
            <a:pPr marL="3200400" lvl="7" indent="0">
              <a:buNone/>
            </a:pPr>
            <a:r>
              <a:rPr lang="en-US" dirty="0"/>
              <a:t>            │</a:t>
            </a:r>
          </a:p>
          <a:p>
            <a:pPr marL="3200400" lvl="7" indent="0">
              <a:buNone/>
            </a:pPr>
            <a:r>
              <a:rPr lang="en-US" dirty="0"/>
              <a:t>           ▼</a:t>
            </a:r>
          </a:p>
          <a:p>
            <a:pPr marL="3200400" lvl="7" indent="0">
              <a:buNone/>
            </a:pPr>
            <a:r>
              <a:rPr lang="en-US" dirty="0"/>
              <a:t>        Production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313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FF12-5186-77F0-F603-653CB3AE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Outbox pattern – </a:t>
            </a:r>
            <a:r>
              <a:rPr lang="en-US" dirty="0" err="1"/>
              <a:t>relailable</a:t>
            </a:r>
            <a:r>
              <a:rPr lang="en-US" dirty="0"/>
              <a:t> event publishing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42EA7-A429-464E-DFEC-75BBBD0E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743200" lvl="6" indent="0">
              <a:buNone/>
            </a:pPr>
            <a:r>
              <a:rPr lang="en-US" dirty="0"/>
              <a:t>┌───────────────┐</a:t>
            </a:r>
          </a:p>
          <a:p>
            <a:pPr marL="2743200" lvl="6" indent="0">
              <a:buNone/>
            </a:pPr>
            <a:r>
              <a:rPr lang="en-US" dirty="0"/>
              <a:t>│   API /                        │</a:t>
            </a:r>
          </a:p>
          <a:p>
            <a:pPr marL="2743200" lvl="6" indent="0">
              <a:buNone/>
            </a:pPr>
            <a:r>
              <a:rPr lang="en-US" dirty="0"/>
              <a:t>│ Command             │</a:t>
            </a:r>
          </a:p>
          <a:p>
            <a:pPr marL="2743200" lvl="6" indent="0">
              <a:buNone/>
            </a:pPr>
            <a:r>
              <a:rPr lang="en-US" dirty="0"/>
              <a:t>│ Handler                   │</a:t>
            </a:r>
          </a:p>
          <a:p>
            <a:pPr marL="2743200" lvl="6" indent="0">
              <a:buNone/>
            </a:pPr>
            <a:r>
              <a:rPr lang="en-US" dirty="0"/>
              <a:t>└───────┬──────┘</a:t>
            </a:r>
          </a:p>
          <a:p>
            <a:pPr marL="2743200" lvl="6" indent="0">
              <a:buNone/>
            </a:pPr>
            <a:r>
              <a:rPr lang="en-US" dirty="0"/>
              <a:t>                     │</a:t>
            </a:r>
          </a:p>
          <a:p>
            <a:pPr marL="2743200" lvl="6" indent="0">
              <a:buNone/>
            </a:pPr>
            <a:r>
              <a:rPr lang="en-US" dirty="0"/>
              <a:t>                    ▼</a:t>
            </a:r>
          </a:p>
          <a:p>
            <a:pPr marL="2743200" lvl="6" indent="0">
              <a:buNone/>
            </a:pPr>
            <a:r>
              <a:rPr lang="en-US" dirty="0"/>
              <a:t>┌─────────────────────────┐</a:t>
            </a:r>
          </a:p>
          <a:p>
            <a:pPr marL="2743200" lvl="6" indent="0">
              <a:buNone/>
            </a:pPr>
            <a:r>
              <a:rPr lang="en-US" dirty="0"/>
              <a:t>│  Domain Event                             │</a:t>
            </a:r>
          </a:p>
          <a:p>
            <a:pPr marL="2743200" lvl="6" indent="0">
              <a:buNone/>
            </a:pPr>
            <a:r>
              <a:rPr lang="en-US" dirty="0"/>
              <a:t>│  LabResultAdded_v1                 │</a:t>
            </a:r>
          </a:p>
          <a:p>
            <a:pPr marL="2743200" lvl="6" indent="0">
              <a:buNone/>
            </a:pPr>
            <a:r>
              <a:rPr lang="en-US" dirty="0"/>
              <a:t>└───────┬────────────────┘</a:t>
            </a:r>
          </a:p>
          <a:p>
            <a:pPr marL="2743200" lvl="6" indent="0">
              <a:buNone/>
            </a:pPr>
            <a:r>
              <a:rPr lang="en-US" dirty="0"/>
              <a:t>                     │  (same transaction)</a:t>
            </a:r>
          </a:p>
          <a:p>
            <a:pPr marL="2743200" lvl="6" indent="0">
              <a:buNone/>
            </a:pPr>
            <a:r>
              <a:rPr lang="en-US" dirty="0"/>
              <a:t>                    ▼</a:t>
            </a:r>
          </a:p>
          <a:p>
            <a:pPr marL="2743200" lvl="6" indent="0">
              <a:buNone/>
            </a:pPr>
            <a:r>
              <a:rPr lang="en-US" dirty="0"/>
              <a:t>┌─────────────────────────┐</a:t>
            </a:r>
          </a:p>
          <a:p>
            <a:pPr marL="2743200" lvl="6" indent="0">
              <a:buNone/>
            </a:pPr>
            <a:r>
              <a:rPr lang="en-US" dirty="0"/>
              <a:t>│  Event Store                                   │</a:t>
            </a:r>
          </a:p>
          <a:p>
            <a:pPr marL="2743200" lvl="6" indent="0">
              <a:buNone/>
            </a:pPr>
            <a:r>
              <a:rPr lang="en-US" dirty="0"/>
              <a:t>│  Postgres (JSONB)                       │</a:t>
            </a:r>
          </a:p>
          <a:p>
            <a:pPr marL="2743200" lvl="6" indent="0">
              <a:buNone/>
            </a:pPr>
            <a:r>
              <a:rPr lang="en-US" dirty="0"/>
              <a:t>└───────┬────────────────┘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716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3CF91-B6C7-0EFD-619A-880E1D64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Outbox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467AA-6067-6EC0-03A1-61DDAC5C2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2286000" lvl="5" indent="0">
              <a:buNone/>
            </a:pPr>
            <a:r>
              <a:rPr lang="en-US" dirty="0"/>
              <a:t>         │</a:t>
            </a:r>
          </a:p>
          <a:p>
            <a:pPr marL="2286000" lvl="5" indent="0">
              <a:buNone/>
            </a:pPr>
            <a:r>
              <a:rPr lang="en-US" dirty="0"/>
              <a:t>        ▼</a:t>
            </a:r>
          </a:p>
          <a:p>
            <a:pPr marL="2286000" lvl="5" indent="0">
              <a:buNone/>
            </a:pPr>
            <a:r>
              <a:rPr lang="en-US" dirty="0"/>
              <a:t>┌─────────────────────────┐</a:t>
            </a:r>
          </a:p>
          <a:p>
            <a:pPr marL="2286000" lvl="5" indent="0">
              <a:buNone/>
            </a:pPr>
            <a:r>
              <a:rPr lang="en-US" dirty="0"/>
              <a:t>│  Outbox Table                                │</a:t>
            </a:r>
          </a:p>
          <a:p>
            <a:pPr marL="2286000" lvl="5" indent="0">
              <a:buNone/>
            </a:pPr>
            <a:r>
              <a:rPr lang="en-US" dirty="0"/>
              <a:t>│  Pending Messages                     │</a:t>
            </a:r>
          </a:p>
          <a:p>
            <a:pPr marL="2286000" lvl="5" indent="0">
              <a:buNone/>
            </a:pPr>
            <a:r>
              <a:rPr lang="en-US" dirty="0"/>
              <a:t>└───────┬────────────────┘</a:t>
            </a:r>
          </a:p>
          <a:p>
            <a:pPr marL="2286000" lvl="5" indent="0">
              <a:buNone/>
            </a:pPr>
            <a:r>
              <a:rPr lang="en-US" dirty="0"/>
              <a:t>         │  (async)</a:t>
            </a:r>
          </a:p>
          <a:p>
            <a:pPr marL="2286000" lvl="5" indent="0">
              <a:buNone/>
            </a:pPr>
            <a:r>
              <a:rPr lang="en-US" dirty="0"/>
              <a:t>        ▼</a:t>
            </a:r>
          </a:p>
          <a:p>
            <a:pPr marL="2286000" lvl="5" indent="0">
              <a:buNone/>
            </a:pPr>
            <a:r>
              <a:rPr lang="en-US" dirty="0"/>
              <a:t>┌─────────────────────────┐</a:t>
            </a:r>
          </a:p>
          <a:p>
            <a:pPr marL="2286000" lvl="5" indent="0">
              <a:buNone/>
            </a:pPr>
            <a:r>
              <a:rPr lang="en-US" dirty="0"/>
              <a:t>│  Outbox Publisher                       │</a:t>
            </a:r>
          </a:p>
          <a:p>
            <a:pPr marL="2286000" lvl="5" indent="0">
              <a:buNone/>
            </a:pPr>
            <a:r>
              <a:rPr lang="en-US" dirty="0"/>
              <a:t>│  Background Worker                  │</a:t>
            </a:r>
          </a:p>
          <a:p>
            <a:pPr marL="2286000" lvl="5" indent="0">
              <a:buNone/>
            </a:pPr>
            <a:r>
              <a:rPr lang="en-US" dirty="0"/>
              <a:t>└───────┬────────────────┘</a:t>
            </a:r>
          </a:p>
          <a:p>
            <a:pPr marL="2286000" lvl="5" indent="0">
              <a:buNone/>
            </a:pPr>
            <a:r>
              <a:rPr lang="en-US" dirty="0"/>
              <a:t>         │</a:t>
            </a:r>
          </a:p>
          <a:p>
            <a:pPr marL="2286000" lvl="5" indent="0">
              <a:buNone/>
            </a:pPr>
            <a:r>
              <a:rPr lang="en-US" dirty="0"/>
              <a:t>        ▼</a:t>
            </a:r>
          </a:p>
          <a:p>
            <a:pPr marL="2286000" lvl="5" indent="0">
              <a:buNone/>
            </a:pPr>
            <a:r>
              <a:rPr lang="en-US" dirty="0"/>
              <a:t>┌─────────────────────────┐</a:t>
            </a:r>
          </a:p>
          <a:p>
            <a:pPr marL="2286000" lvl="5" indent="0">
              <a:buNone/>
            </a:pPr>
            <a:r>
              <a:rPr lang="en-US" dirty="0"/>
              <a:t>│ External Systems                         │</a:t>
            </a:r>
          </a:p>
          <a:p>
            <a:pPr marL="2286000" lvl="5" indent="0">
              <a:buNone/>
            </a:pPr>
            <a:r>
              <a:rPr lang="en-US" dirty="0"/>
              <a:t>│ RabbitMQ / Kafka                        │</a:t>
            </a:r>
          </a:p>
          <a:p>
            <a:pPr marL="2286000" lvl="5" indent="0">
              <a:buNone/>
            </a:pPr>
            <a:r>
              <a:rPr lang="en-US" dirty="0"/>
              <a:t>└─────────────────────────┘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182829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583</Words>
  <Application>Microsoft Office PowerPoint</Application>
  <PresentationFormat>Widescreen</PresentationFormat>
  <Paragraphs>149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Med Labs API</vt:lpstr>
      <vt:lpstr>System overview – CQRS &amp; Event Sourcing</vt:lpstr>
      <vt:lpstr>Command handling &amp; Event flow</vt:lpstr>
      <vt:lpstr>Snapshots for performance</vt:lpstr>
      <vt:lpstr>Event versioning &amp; backward compatibility</vt:lpstr>
      <vt:lpstr>Event -&gt; Read Model projection</vt:lpstr>
      <vt:lpstr>Query Flow (Fast Reads)</vt:lpstr>
      <vt:lpstr>End-toEnd Testing Strategy</vt:lpstr>
      <vt:lpstr>CI/CD &amp; Deloyment Flow</vt:lpstr>
      <vt:lpstr>Outbox pattern – relailable event publishing</vt:lpstr>
      <vt:lpstr>Outbox pattern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Mitrofanov</dc:creator>
  <cp:lastModifiedBy>Alexander Mitrofanov</cp:lastModifiedBy>
  <cp:revision>2</cp:revision>
  <dcterms:created xsi:type="dcterms:W3CDTF">2025-12-14T12:18:54Z</dcterms:created>
  <dcterms:modified xsi:type="dcterms:W3CDTF">2025-12-14T15:14:32Z</dcterms:modified>
</cp:coreProperties>
</file>